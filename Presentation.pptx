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59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C12EE-2EB9-4C75-B05C-C0ECDF6A4292}" type="datetimeFigureOut">
              <a:rPr lang="LID4096" smtClean="0"/>
              <a:t>05/18/2026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C029BC-4F58-456A-AC36-9211F0F0C19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5968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029BC-4F58-456A-AC36-9211F0F0C190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05537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fif"/><Relationship Id="rId4" Type="http://schemas.openxmlformats.org/officeDocument/2006/relationships/image" Target="../media/image8.jfi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23"/>
          </a:solidFill>
          <a:ln>
            <a:solidFill>
              <a:srgbClr val="1E1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37160" cy="4114800"/>
          </a:xfrm>
          <a:prstGeom prst="rect">
            <a:avLst/>
          </a:prstGeom>
          <a:solidFill>
            <a:srgbClr val="377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STUDENT GRADES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DCDCDC"/>
                </a:solidFill>
              </a:rPr>
              <a:t>Система за управление на студентски оценки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8FA"/>
          </a:solidFill>
          <a:ln>
            <a:solidFill>
              <a:srgbClr val="F8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E23"/>
                </a:solidFill>
              </a:rPr>
              <a:t>ABOUT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rPr dirty="0" err="1"/>
              <a:t>Нашият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представлява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студентски</a:t>
            </a:r>
            <a:r>
              <a:rPr dirty="0"/>
              <a:t> </a:t>
            </a:r>
            <a:r>
              <a:rPr dirty="0" err="1"/>
              <a:t>оценки</a:t>
            </a:r>
            <a:r>
              <a:rPr dirty="0"/>
              <a:t>,</a:t>
            </a:r>
          </a:p>
          <a:p>
            <a:pPr>
              <a:defRPr sz="1800"/>
            </a:pPr>
            <a:r>
              <a:rPr dirty="0" err="1"/>
              <a:t>създадена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C++ </a:t>
            </a:r>
            <a:r>
              <a:rPr dirty="0" err="1"/>
              <a:t>във</a:t>
            </a:r>
            <a:r>
              <a:rPr dirty="0"/>
              <a:t> Visual Studio. </a:t>
            </a:r>
            <a:r>
              <a:rPr dirty="0" err="1"/>
              <a:t>Програмата</a:t>
            </a:r>
            <a:r>
              <a:rPr dirty="0"/>
              <a:t> </a:t>
            </a:r>
            <a:r>
              <a:rPr dirty="0" err="1"/>
              <a:t>позволява</a:t>
            </a:r>
            <a:r>
              <a:rPr dirty="0"/>
              <a:t> </a:t>
            </a:r>
            <a:r>
              <a:rPr dirty="0" err="1"/>
              <a:t>добавяне</a:t>
            </a:r>
            <a:r>
              <a:rPr dirty="0"/>
              <a:t>,</a:t>
            </a:r>
          </a:p>
          <a:p>
            <a:pPr>
              <a:defRPr sz="1800"/>
            </a:pPr>
            <a:r>
              <a:rPr dirty="0" err="1"/>
              <a:t>редактиране</a:t>
            </a:r>
            <a:r>
              <a:rPr dirty="0"/>
              <a:t>, </a:t>
            </a:r>
            <a:r>
              <a:rPr dirty="0" err="1"/>
              <a:t>търсене</a:t>
            </a:r>
            <a:r>
              <a:rPr dirty="0"/>
              <a:t> и </a:t>
            </a:r>
            <a:r>
              <a:rPr dirty="0" err="1"/>
              <a:t>сортиране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студенти</a:t>
            </a:r>
            <a:r>
              <a:rPr dirty="0"/>
              <a:t>, </a:t>
            </a:r>
            <a:r>
              <a:rPr dirty="0" err="1"/>
              <a:t>както</a:t>
            </a:r>
            <a:r>
              <a:rPr dirty="0"/>
              <a:t> и </a:t>
            </a:r>
            <a:r>
              <a:rPr dirty="0" err="1"/>
              <a:t>изчисляване</a:t>
            </a:r>
            <a:endParaRPr dirty="0"/>
          </a:p>
          <a:p>
            <a:pPr>
              <a:defRPr sz="18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среден</a:t>
            </a:r>
            <a:r>
              <a:rPr dirty="0"/>
              <a:t> </a:t>
            </a:r>
            <a:r>
              <a:rPr dirty="0" err="1"/>
              <a:t>успех</a:t>
            </a:r>
            <a:r>
              <a:rPr dirty="0"/>
              <a:t> </a:t>
            </a:r>
            <a:r>
              <a:rPr dirty="0" err="1"/>
              <a:t>чрез</a:t>
            </a:r>
            <a:r>
              <a:rPr dirty="0"/>
              <a:t> </a:t>
            </a:r>
            <a:r>
              <a:rPr dirty="0" err="1"/>
              <a:t>рекурсия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23"/>
          </a:solidFill>
          <a:ln>
            <a:solidFill>
              <a:srgbClr val="1E1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6400800" cy="502920"/>
          </a:xfrm>
          <a:prstGeom prst="roundRect">
            <a:avLst/>
          </a:prstGeom>
          <a:solidFill>
            <a:srgbClr val="3778FF"/>
          </a:solidFill>
          <a:ln>
            <a:solidFill>
              <a:srgbClr val="3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44752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 err="1">
                <a:solidFill>
                  <a:srgbClr val="FFFFFF"/>
                </a:solidFill>
              </a:rPr>
              <a:t>Добавяне</a:t>
            </a:r>
            <a:r>
              <a:rPr sz="1600" dirty="0">
                <a:solidFill>
                  <a:srgbClr val="FFFFFF"/>
                </a:solidFill>
              </a:rPr>
              <a:t> и </a:t>
            </a:r>
            <a:r>
              <a:rPr sz="1600" dirty="0" err="1">
                <a:solidFill>
                  <a:srgbClr val="FFFFFF"/>
                </a:solidFill>
              </a:rPr>
              <a:t>премахване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на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студенти</a:t>
            </a:r>
            <a:endParaRPr sz="1600" dirty="0">
              <a:solidFill>
                <a:srgbClr val="FFFFF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6400800" cy="502920"/>
          </a:xfrm>
          <a:prstGeom prst="roundRect">
            <a:avLst/>
          </a:prstGeom>
          <a:solidFill>
            <a:srgbClr val="3778FF"/>
          </a:solidFill>
          <a:ln>
            <a:solidFill>
              <a:srgbClr val="3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30552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Търсене по име и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6400800" cy="502920"/>
          </a:xfrm>
          <a:prstGeom prst="roundRect">
            <a:avLst/>
          </a:prstGeom>
          <a:solidFill>
            <a:srgbClr val="3778FF"/>
          </a:solidFill>
          <a:ln>
            <a:solidFill>
              <a:srgbClr val="3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816352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Сортиране по успех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6400800" cy="502920"/>
          </a:xfrm>
          <a:prstGeom prst="roundRect">
            <a:avLst/>
          </a:prstGeom>
          <a:solidFill>
            <a:srgbClr val="3778FF"/>
          </a:solidFill>
          <a:ln>
            <a:solidFill>
              <a:srgbClr val="3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502152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Автоматично записване във файлове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14800"/>
            <a:ext cx="6400800" cy="502920"/>
          </a:xfrm>
          <a:prstGeom prst="roundRect">
            <a:avLst/>
          </a:prstGeom>
          <a:solidFill>
            <a:srgbClr val="3778FF"/>
          </a:solidFill>
          <a:ln>
            <a:solidFill>
              <a:srgbClr val="3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187952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Цветен конзолен интерфейс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8FA"/>
          </a:solidFill>
          <a:ln>
            <a:solidFill>
              <a:srgbClr val="F8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E23"/>
                </a:solidFill>
              </a:rPr>
              <a:t>WORKFLOW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3778FF"/>
          </a:solidFill>
          <a:ln>
            <a:solidFill>
              <a:srgbClr val="3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21615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1161288"/>
            <a:ext cx="62179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8760" y="1207008"/>
            <a:ext cx="5577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1E23"/>
                </a:solidFill>
              </a:rPr>
              <a:t>Идея за проекта</a:t>
            </a:r>
          </a:p>
          <a:p>
            <a:r>
              <a:rPr sz="1000">
                <a:solidFill>
                  <a:srgbClr val="5A5A64"/>
                </a:solidFill>
              </a:rPr>
              <a:t>Създаване на концепция за система за управление на студентски оценки.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3778FF"/>
          </a:solidFill>
          <a:ln>
            <a:solidFill>
              <a:srgbClr val="3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084831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029968"/>
            <a:ext cx="62179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08760" y="2075688"/>
            <a:ext cx="5577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1E23"/>
                </a:solidFill>
              </a:rPr>
              <a:t>Планиране</a:t>
            </a:r>
          </a:p>
          <a:p>
            <a:r>
              <a:rPr sz="1000">
                <a:solidFill>
                  <a:srgbClr val="5A5A64"/>
                </a:solidFill>
              </a:rPr>
              <a:t>Организиране на файловата структура и разделяне на модулите.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3778FF"/>
          </a:solidFill>
          <a:ln>
            <a:solidFill>
              <a:srgbClr val="3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95351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2898648"/>
            <a:ext cx="62179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08760" y="2944368"/>
            <a:ext cx="5577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1E23"/>
                </a:solidFill>
              </a:rPr>
              <a:t>Разработка</a:t>
            </a:r>
          </a:p>
          <a:p>
            <a:r>
              <a:rPr sz="1000">
                <a:solidFill>
                  <a:srgbClr val="5A5A64"/>
                </a:solidFill>
              </a:rPr>
              <a:t>Имплементация на функциите за добавяне, търсене и сортиране.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3778FF"/>
          </a:solidFill>
          <a:ln>
            <a:solidFill>
              <a:srgbClr val="3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382219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3767328"/>
            <a:ext cx="62179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08760" y="3813048"/>
            <a:ext cx="5577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1E23"/>
                </a:solidFill>
              </a:rPr>
              <a:t>Тестване</a:t>
            </a:r>
          </a:p>
          <a:p>
            <a:r>
              <a:rPr sz="1000">
                <a:solidFill>
                  <a:srgbClr val="5A5A64"/>
                </a:solidFill>
              </a:rPr>
              <a:t>Проверка на програмата и корекция на грешки.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3778FF"/>
          </a:solidFill>
          <a:ln>
            <a:solidFill>
              <a:srgbClr val="3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690872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0160" y="4636008"/>
            <a:ext cx="62179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08760" y="4681728"/>
            <a:ext cx="5577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E1E23"/>
                </a:solidFill>
              </a:rPr>
              <a:t>Финализиране</a:t>
            </a:r>
          </a:p>
          <a:p>
            <a:r>
              <a:rPr sz="1000">
                <a:solidFill>
                  <a:srgbClr val="5A5A64"/>
                </a:solidFill>
              </a:rPr>
              <a:t>Добавяне на цветен интерфейс и подготовка на документацията.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8" y="0"/>
            <a:ext cx="9144000" cy="6858000"/>
          </a:xfrm>
          <a:prstGeom prst="rect">
            <a:avLst/>
          </a:prstGeom>
          <a:solidFill>
            <a:srgbClr val="F8F8FA"/>
          </a:solidFill>
          <a:ln>
            <a:solidFill>
              <a:srgbClr val="F8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TECHNOLOGIES</a:t>
            </a:r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84040899-2C0A-1E66-525F-27B2355A3E83}"/>
              </a:ext>
            </a:extLst>
          </p:cNvPr>
          <p:cNvSpPr/>
          <p:nvPr/>
        </p:nvSpPr>
        <p:spPr>
          <a:xfrm>
            <a:off x="1104027" y="1130182"/>
            <a:ext cx="1996577" cy="1996577"/>
          </a:xfrm>
          <a:custGeom>
            <a:avLst/>
            <a:gdLst/>
            <a:ahLst/>
            <a:cxnLst/>
            <a:rect l="l" t="t" r="r" b="b"/>
            <a:pathLst>
              <a:path w="3028949" h="3028949">
                <a:moveTo>
                  <a:pt x="0" y="0"/>
                </a:moveTo>
                <a:lnTo>
                  <a:pt x="3028949" y="0"/>
                </a:lnTo>
                <a:lnTo>
                  <a:pt x="3028949" y="3028949"/>
                </a:lnTo>
                <a:lnTo>
                  <a:pt x="0" y="30289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CE3968EF-4D5C-B342-B595-F07E76FF854E}"/>
              </a:ext>
            </a:extLst>
          </p:cNvPr>
          <p:cNvSpPr/>
          <p:nvPr/>
        </p:nvSpPr>
        <p:spPr>
          <a:xfrm>
            <a:off x="3658056" y="1647704"/>
            <a:ext cx="1298575" cy="1459836"/>
          </a:xfrm>
          <a:custGeom>
            <a:avLst/>
            <a:gdLst/>
            <a:ahLst/>
            <a:cxnLst/>
            <a:rect l="l" t="t" r="r" b="b"/>
            <a:pathLst>
              <a:path w="1970030" h="2214674">
                <a:moveTo>
                  <a:pt x="0" y="0"/>
                </a:moveTo>
                <a:lnTo>
                  <a:pt x="1970030" y="0"/>
                </a:lnTo>
                <a:lnTo>
                  <a:pt x="1970030" y="2214674"/>
                </a:lnTo>
                <a:lnTo>
                  <a:pt x="0" y="22146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6" name="Freeform 6">
            <a:extLst>
              <a:ext uri="{FF2B5EF4-FFF2-40B4-BE49-F238E27FC236}">
                <a16:creationId xmlns:a16="http://schemas.microsoft.com/office/drawing/2014/main" id="{1E0C8270-C8AD-BAD9-CF08-1F3603CDA7A9}"/>
              </a:ext>
            </a:extLst>
          </p:cNvPr>
          <p:cNvSpPr/>
          <p:nvPr/>
        </p:nvSpPr>
        <p:spPr>
          <a:xfrm>
            <a:off x="5928377" y="1054382"/>
            <a:ext cx="1574466" cy="1574466"/>
          </a:xfrm>
          <a:custGeom>
            <a:avLst/>
            <a:gdLst/>
            <a:ahLst/>
            <a:cxnLst/>
            <a:rect l="l" t="t" r="r" b="b"/>
            <a:pathLst>
              <a:path w="2388576" h="2388576">
                <a:moveTo>
                  <a:pt x="0" y="0"/>
                </a:moveTo>
                <a:lnTo>
                  <a:pt x="2388576" y="0"/>
                </a:lnTo>
                <a:lnTo>
                  <a:pt x="2388576" y="2388575"/>
                </a:lnTo>
                <a:lnTo>
                  <a:pt x="0" y="2388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26075BE5-5225-166E-4ED1-FB7398B78EB5}"/>
              </a:ext>
            </a:extLst>
          </p:cNvPr>
          <p:cNvSpPr/>
          <p:nvPr/>
        </p:nvSpPr>
        <p:spPr>
          <a:xfrm>
            <a:off x="3866340" y="3840844"/>
            <a:ext cx="1558789" cy="1558789"/>
          </a:xfrm>
          <a:custGeom>
            <a:avLst/>
            <a:gdLst/>
            <a:ahLst/>
            <a:cxnLst/>
            <a:rect l="l" t="t" r="r" b="b"/>
            <a:pathLst>
              <a:path w="2364793" h="2364793">
                <a:moveTo>
                  <a:pt x="0" y="0"/>
                </a:moveTo>
                <a:lnTo>
                  <a:pt x="2364793" y="0"/>
                </a:lnTo>
                <a:lnTo>
                  <a:pt x="2364793" y="2364793"/>
                </a:lnTo>
                <a:lnTo>
                  <a:pt x="0" y="23647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8" name="Freeform 8">
            <a:extLst>
              <a:ext uri="{FF2B5EF4-FFF2-40B4-BE49-F238E27FC236}">
                <a16:creationId xmlns:a16="http://schemas.microsoft.com/office/drawing/2014/main" id="{A9ACD2DE-DC15-2CBF-3B11-E33D907669C6}"/>
              </a:ext>
            </a:extLst>
          </p:cNvPr>
          <p:cNvSpPr/>
          <p:nvPr/>
        </p:nvSpPr>
        <p:spPr>
          <a:xfrm>
            <a:off x="1215908" y="4365955"/>
            <a:ext cx="1772813" cy="1772813"/>
          </a:xfrm>
          <a:custGeom>
            <a:avLst/>
            <a:gdLst/>
            <a:ahLst/>
            <a:cxnLst/>
            <a:rect l="l" t="t" r="r" b="b"/>
            <a:pathLst>
              <a:path w="2689483" h="2689483">
                <a:moveTo>
                  <a:pt x="0" y="0"/>
                </a:moveTo>
                <a:lnTo>
                  <a:pt x="2689484" y="0"/>
                </a:lnTo>
                <a:lnTo>
                  <a:pt x="2689484" y="2689484"/>
                </a:lnTo>
                <a:lnTo>
                  <a:pt x="0" y="26894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9" name="Freeform 9">
            <a:extLst>
              <a:ext uri="{FF2B5EF4-FFF2-40B4-BE49-F238E27FC236}">
                <a16:creationId xmlns:a16="http://schemas.microsoft.com/office/drawing/2014/main" id="{4C32DD25-7F7F-AE3D-479D-E3FA5A1261C6}"/>
              </a:ext>
            </a:extLst>
          </p:cNvPr>
          <p:cNvSpPr/>
          <p:nvPr/>
        </p:nvSpPr>
        <p:spPr>
          <a:xfrm>
            <a:off x="6160044" y="3996319"/>
            <a:ext cx="1994847" cy="1494210"/>
          </a:xfrm>
          <a:custGeom>
            <a:avLst/>
            <a:gdLst/>
            <a:ahLst/>
            <a:cxnLst/>
            <a:rect l="l" t="t" r="r" b="b"/>
            <a:pathLst>
              <a:path w="3026324" h="2266822">
                <a:moveTo>
                  <a:pt x="0" y="0"/>
                </a:moveTo>
                <a:lnTo>
                  <a:pt x="3026324" y="0"/>
                </a:lnTo>
                <a:lnTo>
                  <a:pt x="3026324" y="2266822"/>
                </a:lnTo>
                <a:lnTo>
                  <a:pt x="0" y="22668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23"/>
          </a:solidFill>
          <a:ln>
            <a:solidFill>
              <a:srgbClr val="1E1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FFFFFF"/>
                </a:solidFill>
              </a:rPr>
              <a:t>TEAM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0F0A98-1E0B-001A-A291-E848DD929CDB}"/>
              </a:ext>
            </a:extLst>
          </p:cNvPr>
          <p:cNvSpPr txBox="1"/>
          <p:nvPr/>
        </p:nvSpPr>
        <p:spPr>
          <a:xfrm>
            <a:off x="548640" y="4120512"/>
            <a:ext cx="18122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Mona Sans VF"/>
              </a:rPr>
              <a:t>Алексей Спирин 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Scrum Trainer</a:t>
            </a:r>
            <a:endParaRPr lang="LID4096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38D8803-82C7-BF3F-9070-1DE97E3EF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11" y="1827371"/>
            <a:ext cx="2243709" cy="224370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2E96D5E-873E-9D32-1474-E25324B1A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812654"/>
            <a:ext cx="2273141" cy="227314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3D9529D-E385-E4C1-57F7-92F26517EA87}"/>
              </a:ext>
            </a:extLst>
          </p:cNvPr>
          <p:cNvSpPr txBox="1"/>
          <p:nvPr/>
        </p:nvSpPr>
        <p:spPr>
          <a:xfrm>
            <a:off x="3315652" y="4120512"/>
            <a:ext cx="20975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Mona Sans VF"/>
              </a:rPr>
              <a:t>Никита Якубский  </a:t>
            </a:r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BackEnd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Developer</a:t>
            </a:r>
            <a:endParaRPr lang="LID4096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366E33A-5EB3-97BD-A989-A64877A461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19" y="1797938"/>
            <a:ext cx="2273142" cy="227314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A414391-85D2-A9DE-E574-C191354C7A70}"/>
              </a:ext>
            </a:extLst>
          </p:cNvPr>
          <p:cNvSpPr txBox="1"/>
          <p:nvPr/>
        </p:nvSpPr>
        <p:spPr>
          <a:xfrm>
            <a:off x="6217919" y="4112512"/>
            <a:ext cx="2273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Mona Sans VF"/>
              </a:rPr>
              <a:t>Василен Господинов </a:t>
            </a:r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FrontEnd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Developer</a:t>
            </a:r>
            <a:endParaRPr lang="LID4096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23"/>
          </a:solidFill>
          <a:ln>
            <a:solidFill>
              <a:srgbClr val="1E1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11680" y="20116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926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2D2D2"/>
                </a:solidFill>
              </a:defRPr>
            </a:pPr>
            <a:r>
              <a:rPr dirty="0"/>
              <a:t>Student Grades Manager • C++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155</Words>
  <Application>Microsoft Office PowerPoint</Application>
  <PresentationFormat>On-screen Show (4:3)</PresentationFormat>
  <Paragraphs>37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Mona Sans VF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Yuriy Yakubskiy</dc:creator>
  <cp:keywords/>
  <dc:description>generated using python-pptx</dc:description>
  <cp:lastModifiedBy>Никита Якубский</cp:lastModifiedBy>
  <cp:revision>3</cp:revision>
  <dcterms:created xsi:type="dcterms:W3CDTF">2013-01-27T09:14:16Z</dcterms:created>
  <dcterms:modified xsi:type="dcterms:W3CDTF">2026-05-18T20:21:09Z</dcterms:modified>
  <cp:category/>
</cp:coreProperties>
</file>